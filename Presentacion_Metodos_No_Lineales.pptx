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28016" cy="452628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24128"/>
            <a:ext cx="5669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Aptos"/>
              </a:rPr>
              <a:t>MÉTODOS NUMÉRICOS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90472"/>
            <a:ext cx="987552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500" b="1">
                <a:solidFill>
                  <a:srgbClr val="F1F5F9"/>
                </a:solidFill>
                <a:latin typeface="Aptos"/>
              </a:rPr>
              <a:t>Sistemas no lineales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987552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900" b="1">
                <a:solidFill>
                  <a:srgbClr val="8B5CF6"/>
                </a:solidFill>
                <a:latin typeface="Aptos"/>
              </a:rPr>
              <a:t>Newton-Raphson para sistemas
&amp; Gauss-Seidel no lineal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822191"/>
            <a:ext cx="59436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A8B4C9"/>
                </a:solidFill>
                <a:latin typeface="Aptos"/>
              </a:rPr>
              <a:t>Presentación académica  |  Unidad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754880"/>
            <a:ext cx="4206240" cy="658368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4864608"/>
            <a:ext cx="384048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Expositores: 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0644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A8B4C9"/>
                </a:solidFill>
                <a:latin typeface="Aptos"/>
              </a:rPr>
              <a:t>Objetivo: resolver F(x) = 0 de forma iterativa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5074920"/>
            <a:ext cx="91440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36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11480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¿Qué problema resolvemos?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A8B4C9"/>
                </a:solidFill>
                <a:latin typeface="Aptos"/>
              </a:rPr>
              <a:t>02  |  Métodos numéricos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F1F5F9"/>
                </a:solidFill>
                <a:latin typeface="Aptos"/>
              </a:rPr>
              <a:t>Muchos modelos de ingeniería, ciencia y economía no pueden despejarse con una fórmula cerrada.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166360" cy="315468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04872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ptos"/>
              </a:rPr>
              <a:t>Sistema no lineal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480560" cy="1737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F₁(x₁, x₂, …, xₙ) = 0
F₂(x₁, x₂, …, xₙ) = 0
⋮
Fₙ(x₁, x₂, …, xₙ) =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48840"/>
            <a:ext cx="5303520" cy="315468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04872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Aptos"/>
              </a:rPr>
              <a:t>Meta numérica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44368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944368"/>
            <a:ext cx="427939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Encontrar x* tal que F(x*) ≈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547872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3547872"/>
            <a:ext cx="427939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Partir de una aproximación inicial x⁽⁰⁾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51376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151376"/>
            <a:ext cx="427939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Controlar error, residuo y convergencia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B923C"/>
                </a:solidFill>
                <a:latin typeface="Aptos"/>
              </a:rPr>
              <a:t>La calidad de x⁽⁰⁾ influye directamente en el resultado.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11480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Ejemplo común para comparar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A8B4C9"/>
                </a:solidFill>
                <a:latin typeface="Aptos"/>
              </a:rPr>
              <a:t>03  |  Métodos numéricos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94360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Usaremos el mismo sistema en ambos métodos: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623560" cy="242316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04288"/>
            <a:ext cx="5029200" cy="1325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2DD4BF"/>
                </a:solidFill>
                <a:latin typeface="Aptos"/>
              </a:rPr>
              <a:t>F₁(x,y) = x² + y − 3.75 = 0
F₂(x,y) = x + y² − 3.75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74519"/>
            <a:ext cx="4526280" cy="242316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12848"/>
            <a:ext cx="38404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  <a:latin typeface="Aptos"/>
              </a:rPr>
              <a:t>Solución conocida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770632"/>
            <a:ext cx="3291840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3000" b="1">
                <a:solidFill>
                  <a:srgbClr val="F1F5F9"/>
                </a:solidFill>
                <a:latin typeface="Aptos"/>
              </a:rPr>
              <a:t>x* = 1.5
 y* = 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B923C"/>
                </a:solidFill>
                <a:latin typeface="Aptos"/>
              </a:rPr>
              <a:t>Aproximación inicial para la demostración:  x⁽⁰⁾ = (1,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A8B4C9"/>
                </a:solidFill>
                <a:latin typeface="Aptos"/>
              </a:rPr>
              <a:t>La solución se verifica sustituyendo en las dos ecuaciones: F₁(1.5,1.5)=F₂(1.5,1.5)=0.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11480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MÉTODO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Newton-Raphson para sistemas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A8B4C9"/>
                </a:solidFill>
                <a:latin typeface="Aptos"/>
              </a:rPr>
              <a:t>04  |  Métodos numéricos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Idea: reemplazar el sistema no lineal por una aproximación lineal local.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21408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Aptos"/>
              </a:rPr>
              <a:t>Paso fundamental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97480"/>
            <a:ext cx="4617720" cy="1600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F1F5F9"/>
                </a:solidFill>
                <a:latin typeface="Aptos"/>
              </a:rPr>
              <a:t>J(x⁽ᵏ⁾) · Δx = −F(x⁽ᵏ⁾)
x⁽ᵏ⁺¹⁾ = x⁽ᵏ⁾ + Δx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4983480" cy="329184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121408"/>
            <a:ext cx="42976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  <a:latin typeface="Aptos"/>
              </a:rPr>
              <a:t>Jacobiano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2743200"/>
            <a:ext cx="416052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F1F5F9"/>
                </a:solidFill>
                <a:latin typeface="Aptos"/>
              </a:rPr>
              <a:t>J(x,y) = [ ∂F₁/∂x   ∂F₁/∂y ]
       [ ∂F₂/∂x   ∂F₂/∂y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A8B4C9"/>
                </a:solidFill>
                <a:latin typeface="Aptos"/>
              </a:rPr>
              <a:t>En el proyecto se admite Jacobiano analítico o aproximado por diferencias centradas.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11480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MÉTODO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Newton: algoritmo y criterios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A8B4C9"/>
                </a:solidFill>
                <a:latin typeface="Aptos"/>
              </a:rPr>
              <a:t>05  |  Métodos numéricos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074920" cy="452628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36192"/>
            <a:ext cx="438912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2DD4BF"/>
                </a:solidFill>
                <a:latin typeface="Aptos"/>
              </a:rPr>
              <a:t>Algoritmo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057400"/>
            <a:ext cx="3977639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Elegir x⁽⁰⁾ y tolerancia.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7919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679192"/>
            <a:ext cx="3977639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Evaluar F(x⁽ᵏ⁾) y J(x⁽ᵏ⁾).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00984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300984"/>
            <a:ext cx="3977639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Resolver J·Δx = −F.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22776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922776"/>
            <a:ext cx="3977639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Actualizar x⁽ᵏ⁺¹⁾ = x⁽ᵏ⁾ + Δx.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44568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4544568"/>
            <a:ext cx="3977639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Repetir hasta converger.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234440"/>
            <a:ext cx="5257800" cy="452628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536192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8B5CF6"/>
                </a:solidFill>
                <a:latin typeface="Aptos"/>
              </a:rPr>
              <a:t>¿Cuándo termina?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14884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48840"/>
            <a:ext cx="4096511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||Δx||∞ ≤ tolerancia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78892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788920"/>
            <a:ext cx="4096511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||F(x⁽ᵏ⁺¹⁾)||∞ ≤ tolerancia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42900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429000"/>
            <a:ext cx="4096511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Jacobiano no singular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251960"/>
            <a:ext cx="4526280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  <a:latin typeface="Aptos"/>
              </a:rPr>
              <a:t>Ventaja: convergencia muy rápida cerca de la solución.
Riesgo: puede fallar con un mal punto inicial.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11480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MÉTODO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Ejemplo: iteraciones de Newton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A8B4C9"/>
                </a:solidFill>
                <a:latin typeface="Aptos"/>
              </a:rPr>
              <a:t>06  |  Métodos numéricos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F1F5F9"/>
                </a:solidFill>
                <a:latin typeface="Aptos"/>
              </a:rPr>
              <a:t>Para el sistema de la diapositiva 3, con x⁽⁰⁾=(1,1):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5800" cy="5669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630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Aptos"/>
              </a:rPr>
              <a:t>k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828800"/>
            <a:ext cx="1828800" cy="5669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1874519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Aptos"/>
              </a:rPr>
              <a:t>x₁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28800"/>
            <a:ext cx="1828800" cy="5669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874519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Aptos"/>
              </a:rPr>
              <a:t>x₂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828800"/>
            <a:ext cx="1965960" cy="5669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1874519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Aptos"/>
              </a:rPr>
              <a:t>||Δx||∞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1828800"/>
            <a:ext cx="1965960" cy="5669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1874519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Aptos"/>
              </a:rPr>
              <a:t>||F(x)||∞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395728"/>
            <a:ext cx="685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441448"/>
            <a:ext cx="630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395728"/>
            <a:ext cx="1828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2441448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1.000000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395728"/>
            <a:ext cx="1828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2441448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1.000000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395728"/>
            <a:ext cx="196596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8072" y="2441448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2395728"/>
            <a:ext cx="196596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2441448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1.750e+00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62656"/>
            <a:ext cx="685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008376"/>
            <a:ext cx="630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2962656"/>
            <a:ext cx="1828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0472" y="3008376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1.583333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2962656"/>
            <a:ext cx="1828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9272" y="3008376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1.583333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2962656"/>
            <a:ext cx="196596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48072" y="3008376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5.833e-01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2962656"/>
            <a:ext cx="196596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14032" y="3008376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3.403e-01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529584"/>
            <a:ext cx="685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3575303"/>
            <a:ext cx="630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3529584"/>
            <a:ext cx="1828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90472" y="3575303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1.501667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3529584"/>
            <a:ext cx="1828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3575303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1.501667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3529584"/>
            <a:ext cx="196596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48072" y="3575303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8.167e-02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86600" y="3529584"/>
            <a:ext cx="196596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14032" y="3575303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6.669e-03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096512"/>
            <a:ext cx="685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4142232"/>
            <a:ext cx="630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3040" y="4096512"/>
            <a:ext cx="1828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90472" y="4142232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1.500001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4096512"/>
            <a:ext cx="1828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9272" y="4142232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1.500001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4096512"/>
            <a:ext cx="196596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48072" y="4142232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1.666e-03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4096512"/>
            <a:ext cx="196596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14032" y="4142232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Aptos"/>
              </a:rPr>
              <a:t>2.775e-06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663440"/>
            <a:ext cx="685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4709159"/>
            <a:ext cx="630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63040" y="4663440"/>
            <a:ext cx="1828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90472" y="4709159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ptos"/>
              </a:rPr>
              <a:t>1.500000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91840" y="4663440"/>
            <a:ext cx="182880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19272" y="4709159"/>
            <a:ext cx="1773936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ptos"/>
              </a:rPr>
              <a:t>1.500000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0" y="4663440"/>
            <a:ext cx="196596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48072" y="4709159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ptos"/>
              </a:rPr>
              <a:t>6.939e-07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86600" y="4663440"/>
            <a:ext cx="1965960" cy="566928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14032" y="4709159"/>
            <a:ext cx="1911095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ptos"/>
              </a:rPr>
              <a:t>4.814e-13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81160" y="1828800"/>
            <a:ext cx="2148840" cy="3401568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55480" y="2148840"/>
            <a:ext cx="16002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Aptos"/>
              </a:rPr>
              <a:t>Resultado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2788920"/>
            <a:ext cx="160020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F1F5F9"/>
                </a:solidFill>
                <a:latin typeface="Aptos"/>
              </a:rPr>
              <a:t>x ≈ 1.5
y ≈ 1.5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64040" y="4096512"/>
            <a:ext cx="17830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8B5CF6"/>
                </a:solidFill>
                <a:latin typeface="Aptos"/>
              </a:rPr>
              <a:t>Convergió en 4 iteraciones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A8B4C9"/>
                </a:solidFill>
                <a:latin typeface="Aptos"/>
              </a:rPr>
              <a:t>La reducción acelerada del residuo muestra la precisión alcanzada.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11480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MÉTODO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Gauss-Seidel no lineal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A8B4C9"/>
                </a:solidFill>
                <a:latin typeface="Aptos"/>
              </a:rPr>
              <a:t>07  |  Métodos numéricos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3152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Convierte el sistema a una forma de punto fijo: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440680" cy="333756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50592"/>
            <a:ext cx="4800600" cy="1371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Aptos"/>
              </a:rPr>
              <a:t>x = g₁(x,y) = √(3.75 − y)
y = g₂(x,y) = √(3.75 − 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828800"/>
            <a:ext cx="4892040" cy="333756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425196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  <a:latin typeface="Aptos"/>
              </a:rPr>
              <a:t>Actualización inmediata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61488"/>
            <a:ext cx="4251960" cy="1325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F1F5F9"/>
                </a:solidFill>
                <a:latin typeface="Aptos"/>
              </a:rPr>
              <a:t>x⁽ᵏ⁺¹⁾ = g₁(x⁽ᵏ⁾, y⁽ᵏ⁾)
y⁽ᵏ⁺¹⁾ = g₂(x⁽ᵏ⁺¹⁾, y⁽ᵏ⁾)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96128"/>
            <a:ext cx="103327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B923C"/>
                </a:solidFill>
                <a:latin typeface="Aptos"/>
              </a:rPr>
              <a:t>La segunda ecuación usa inmediatamente el nuevo valor de 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11480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MÉTODO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Gauss-Seidel: algoritmo y convergencia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A8B4C9"/>
                </a:solidFill>
                <a:latin typeface="Aptos"/>
              </a:rPr>
              <a:t>08  |  Métodos numéricos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532120" cy="452628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54480"/>
            <a:ext cx="438912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2DD4BF"/>
                </a:solidFill>
                <a:latin typeface="Aptos"/>
              </a:rPr>
              <a:t>Proceso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057400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Elegir x⁽⁰⁾ y tolerancia.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79192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679192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Despejar cada variable como gᵢ.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00984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300984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Actualizar x₁, luego x₂, …, xₙ.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22776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922776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Calcular ||x⁽ᵏ⁺¹⁾−x⁽ᵏ⁾||∞.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44568"/>
            <a:ext cx="320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4544568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Parar si el error es pequeño.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234440"/>
            <a:ext cx="4800600" cy="452628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1554480"/>
            <a:ext cx="4114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8B5CF6"/>
                </a:solidFill>
                <a:latin typeface="Aptos"/>
              </a:rPr>
              <a:t>Condiciones prácticas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176272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176272"/>
            <a:ext cx="377647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La forma g debe favorecer contracción.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816352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816352"/>
            <a:ext cx="377647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El orden de actualización importa.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456432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456432"/>
            <a:ext cx="377647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Es simple, pero suele ser más lento.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4251960"/>
            <a:ext cx="41148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B923C"/>
                </a:solidFill>
                <a:latin typeface="Aptos"/>
              </a:rPr>
              <a:t>En el proyecto, el criterio es:
||x⁽ᵏ⁺¹⁾ − x⁽ᵏ⁾||∞ ≤ tolerancia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11480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Comparación de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A8B4C9"/>
                </a:solidFill>
                <a:latin typeface="Aptos"/>
              </a:rPr>
              <a:t>09  |  Métodos numéricos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2011680" cy="6400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72184"/>
            <a:ext cx="192024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ptos"/>
              </a:rPr>
              <a:t>Aspecto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417320"/>
            <a:ext cx="4251960" cy="6400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472184"/>
            <a:ext cx="41605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ptos"/>
              </a:rPr>
              <a:t>Newton-Raphson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417320"/>
            <a:ext cx="4526280" cy="6400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472184"/>
            <a:ext cx="443484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ptos"/>
              </a:rPr>
              <a:t>Gauss-Seidel no lineal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57400"/>
            <a:ext cx="201168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112264"/>
            <a:ext cx="186537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Idea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057400"/>
            <a:ext cx="425196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2112264"/>
            <a:ext cx="410565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Linealización local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057400"/>
            <a:ext cx="452628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2112264"/>
            <a:ext cx="437997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Punto fijo con actualización inmediata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743200"/>
            <a:ext cx="201168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798064"/>
            <a:ext cx="186537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Información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2743200"/>
            <a:ext cx="425196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0632" y="2798064"/>
            <a:ext cx="410565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Jacobiano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743200"/>
            <a:ext cx="452628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2798064"/>
            <a:ext cx="437997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Despejes gᵢ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429000"/>
            <a:ext cx="201168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483864"/>
            <a:ext cx="186537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Velocidad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3429000"/>
            <a:ext cx="425196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0632" y="3483864"/>
            <a:ext cx="410565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Muy rápida cerca de la raíz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429000"/>
            <a:ext cx="452628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3483864"/>
            <a:ext cx="437997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Generalmente más gradual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114800"/>
            <a:ext cx="201168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4169664"/>
            <a:ext cx="186537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Riesgo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4114800"/>
            <a:ext cx="425196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169664"/>
            <a:ext cx="410565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Jacobiano singular / mala semilla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4114800"/>
            <a:ext cx="452628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4169664"/>
            <a:ext cx="437997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No convergencia de la forma 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800600"/>
            <a:ext cx="201168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855464"/>
            <a:ext cx="186537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Ejemplo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4800600"/>
            <a:ext cx="425196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0632" y="4855464"/>
            <a:ext cx="410565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4 iteraciones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800600"/>
            <a:ext cx="4526280" cy="685800"/>
          </a:xfrm>
          <a:prstGeom prst="rect">
            <a:avLst/>
          </a:prstGeom>
          <a:solidFill>
            <a:srgbClr val="11182B"/>
          </a:solidFill>
          <a:ln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2592" y="4855464"/>
            <a:ext cx="4379976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Más iteraciones para la misma precisión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B923C"/>
                </a:solidFill>
                <a:latin typeface="Aptos"/>
              </a:rPr>
              <a:t>No existe un método universalmente mejor: la elección depende del sistema y de la información disponible.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11480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Conclusiones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20574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A8B4C9"/>
                </a:solidFill>
                <a:latin typeface="Aptos"/>
              </a:rPr>
              <a:t>10  |  Métodos numéricos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583680" cy="448056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58521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ptos"/>
              </a:rPr>
              <a:t>Ideas clave para recordar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194560"/>
            <a:ext cx="546811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Ambos métodos buscan F(x)=0 mediante aproximaciones sucesivas.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62072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862072"/>
            <a:ext cx="546811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Newton usa el Jacobiano y una corrección lineal.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29584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529584"/>
            <a:ext cx="546811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Gauss-Seidel usa despejes y valores actualizados al instante.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97096"/>
            <a:ext cx="25603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4197096"/>
            <a:ext cx="5468112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1F5F9"/>
                </a:solidFill>
                <a:latin typeface="Aptos"/>
              </a:rPr>
              <a:t>Siempre se debe revisar error, residuo y convergencia.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234440"/>
            <a:ext cx="3703320" cy="448056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>
            <a:solidFill>
              <a:srgbClr val="11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627632"/>
            <a:ext cx="30632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8B5CF6"/>
                </a:solidFill>
                <a:latin typeface="Aptos"/>
              </a:rPr>
              <a:t>Mensaje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212848"/>
            <a:ext cx="3017520" cy="24231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1F5F9"/>
                </a:solidFill>
                <a:latin typeface="Aptos"/>
              </a:rPr>
              <a:t>La solución numérica
no es solo calcular:
también es elegir una
buena formulación,
una semilla adecuada
y un criterio de parada.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97880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B923C"/>
                </a:solidFill>
                <a:latin typeface="Aptos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